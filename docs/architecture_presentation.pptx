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MediCare AI - Healthcare Chatbot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48CAE4"/>
                </a:solidFill>
              </a:defRPr>
            </a:pPr>
            <a:r>
              <a:t>AI-Powered Healthcare Assistant with RAG and Conversation Memory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90CAF9"/>
                </a:solidFill>
              </a:defRPr>
            </a:pPr>
            <a:r>
              <a:t>OpenRouter LLM | LangChain | FAISS | Streamlit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30352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0A4AE"/>
                </a:solidFill>
              </a:defRPr>
            </a:pPr>
            <a:r>
              <a:t>AI Engineer Technical Assignment |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8229600" cy="822960"/>
          </a:xfrm>
          <a:prstGeom prst="roundRect">
            <a:avLst/>
          </a:prstGeom>
          <a:solidFill>
            <a:srgbClr val="1B5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STREAMLIT FRONTEND</a:t>
            </a:r>
          </a:p>
          <a:p>
            <a:pPr algn="ctr">
              <a:defRPr sz="1000">
                <a:solidFill>
                  <a:srgbClr val="CCCCCC"/>
                </a:solidFill>
              </a:defRPr>
            </a:pPr>
            <a:r>
              <a:t>Chat UI | Sidebar Controls | Quick Questions | Disclaimer Banner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286000"/>
            <a:ext cx="8229600" cy="822960"/>
          </a:xfrm>
          <a:prstGeom prst="round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HEALTHCARE CHATBOT CORE</a:t>
            </a:r>
          </a:p>
          <a:p>
            <a:pPr algn="ctr">
              <a:defRPr sz="1000">
                <a:solidFill>
                  <a:srgbClr val="CCCCCC"/>
                </a:solidFill>
              </a:defRPr>
            </a:pPr>
            <a:r>
              <a:t>Query Classifier | Response Generator | Guardrails | Disclaimers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657600"/>
            <a:ext cx="2651760" cy="1371600"/>
          </a:xfrm>
          <a:prstGeom prst="roundRect">
            <a:avLst/>
          </a:prstGeom>
          <a:solidFill>
            <a:srgbClr val="3D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FAISS VECTOR STORE</a:t>
            </a:r>
          </a:p>
          <a:p>
            <a:pPr algn="ctr">
              <a:defRPr sz="900">
                <a:solidFill>
                  <a:srgbClr val="DDDDDD"/>
                </a:solidFill>
              </a:defRPr>
            </a:pPr>
            <a:r>
              <a:t>20 Medical Docs | all-MiniLM-L6-v2 Embeddings | Similarity Search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37560" y="3657600"/>
            <a:ext cx="2651760" cy="1371600"/>
          </a:xfrm>
          <a:prstGeom prst="roundRect">
            <a:avLst/>
          </a:prstGeom>
          <a:solidFill>
            <a:srgbClr val="5C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OPENROUTER LLM (GPT-OSS-20B)</a:t>
            </a:r>
          </a:p>
          <a:p>
            <a:pPr algn="ctr">
              <a:defRPr sz="900">
                <a:solidFill>
                  <a:srgbClr val="DDDDDD"/>
                </a:solidFill>
              </a:defRPr>
            </a:pPr>
            <a:r>
              <a:t>Temperature 0.4 | Max Tokens 2048 | OpenAI-Compatible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657600"/>
            <a:ext cx="2651760" cy="1371600"/>
          </a:xfrm>
          <a:prstGeom prst="roundRect">
            <a:avLst/>
          </a:prstGeom>
          <a:solidFill>
            <a:srgbClr val="1F5C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CONVERSATION MEMORY</a:t>
            </a:r>
          </a:p>
          <a:p>
            <a:pPr algn="ctr">
              <a:defRPr sz="900">
                <a:solidFill>
                  <a:srgbClr val="DDDDDD"/>
                </a:solidFill>
              </a:defRPr>
            </a:pPr>
            <a:r>
              <a:t>Sliding Window (10 exchanges) | 20 Message History | Context-Aware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4864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48CAE4"/>
                </a:solidFill>
              </a:defRPr>
            </a:pPr>
            <a:r>
              <a:t>Flow: User Query -&gt; Classification -&gt; RAG Retrieval + LLM -&gt; Safety Checks -&gt; Response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Tech Stack and LLM Selection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8229600" cy="502920"/>
          </a:xfrm>
          <a:prstGeom prst="round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  Component                 Technology                     Rationale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737360"/>
            <a:ext cx="8229600" cy="502920"/>
          </a:xfrm>
          <a:prstGeom prst="round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  Frontend                  Streamlit                      Rapid prototyping, built-in chat, Python-native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286000"/>
            <a:ext cx="8229600" cy="502920"/>
          </a:xfrm>
          <a:prstGeom prst="roundRect">
            <a:avLst/>
          </a:prstGeom>
          <a:solidFill>
            <a:srgbClr val="0F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  LLM                       OpenRouter (GPT-OSS-20B)       Free tier, fast, OpenAI-compatible API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834640"/>
            <a:ext cx="8229600" cy="502920"/>
          </a:xfrm>
          <a:prstGeom prst="round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  Orchestration             LangChain                      Mature framework for chains and RAG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383280"/>
            <a:ext cx="8229600" cy="502920"/>
          </a:xfrm>
          <a:prstGeom prst="roundRect">
            <a:avLst/>
          </a:prstGeom>
          <a:solidFill>
            <a:srgbClr val="0F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  Vector Store              FAISS                          Efficient CPU-based similarity search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931920"/>
            <a:ext cx="8229600" cy="502920"/>
          </a:xfrm>
          <a:prstGeom prst="round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  Embeddings                all-MiniLM-L6-v2               Lightweight, fast, good semantics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480560"/>
            <a:ext cx="8229600" cy="502920"/>
          </a:xfrm>
          <a:prstGeom prst="roundRect">
            <a:avLst/>
          </a:prstGeom>
          <a:solidFill>
            <a:srgbClr val="0F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  Language                  Python 3.9+                    Best AI/ML ecosystem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303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0CAF9"/>
                </a:solidFill>
              </a:defRPr>
            </a:pPr>
            <a:r>
              <a:t>LLM Rationale: GPT-OSS-20B via OpenRouter offers free access, fast inference, and OpenAI-compatible API for easy integration with LangChain.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Prompt Engineering and Additional Components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3931920" cy="4572000"/>
          </a:xfrm>
          <a:prstGeom prst="round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48CAE4"/>
                </a:solidFill>
              </a:defRPr>
            </a:pPr>
            <a:r>
              <a:t>Prompt Strategy</a:t>
            </a:r>
          </a:p>
          <a:p>
            <a:pPr>
              <a:spcBef>
                <a:spcPts val="600"/>
              </a:spcBef>
              <a:defRPr sz="1000">
                <a:solidFill>
                  <a:srgbClr val="CCCCCC"/>
                </a:solidFill>
              </a:defRPr>
            </a:pPr>
            <a:r>
              <a:t>  Role Prompting - Empathetic healthcare assistant</a:t>
            </a:r>
          </a:p>
          <a:p>
            <a:pPr>
              <a:spcBef>
                <a:spcPts val="600"/>
              </a:spcBef>
              <a:defRPr sz="1000">
                <a:solidFill>
                  <a:srgbClr val="CCCCCC"/>
                </a:solidFill>
              </a:defRPr>
            </a:pPr>
            <a:r>
              <a:t>  Constraint Setting - No diagnoses or prescriptions</a:t>
            </a:r>
          </a:p>
          <a:p>
            <a:pPr>
              <a:spcBef>
                <a:spcPts val="600"/>
              </a:spcBef>
              <a:defRPr sz="1000">
                <a:solidFill>
                  <a:srgbClr val="CCCCCC"/>
                </a:solidFill>
              </a:defRPr>
            </a:pPr>
            <a:r>
              <a:t>  Context Injection - RAG docs in system prompt</a:t>
            </a:r>
          </a:p>
          <a:p>
            <a:pPr>
              <a:spcBef>
                <a:spcPts val="600"/>
              </a:spcBef>
              <a:defRPr sz="1000">
                <a:solidFill>
                  <a:srgbClr val="CCCCCC"/>
                </a:solidFill>
              </a:defRPr>
            </a:pPr>
            <a:r>
              <a:t>  Guardrail Prompting - Safety in every prompt</a:t>
            </a:r>
          </a:p>
          <a:p>
            <a:pPr>
              <a:spcBef>
                <a:spcPts val="600"/>
              </a:spcBef>
              <a:defRPr sz="1000">
                <a:solidFill>
                  <a:srgbClr val="CCCCCC"/>
                </a:solidFill>
              </a:defRPr>
            </a:pPr>
            <a:r>
              <a:t>  Response Templates - Emergency/greeting/OOS</a:t>
            </a:r>
          </a:p>
          <a:p>
            <a:pPr>
              <a:spcBef>
                <a:spcPts val="600"/>
              </a:spcBef>
              <a:defRPr sz="1000">
                <a:solidFill>
                  <a:srgbClr val="CCCCCC"/>
                </a:solidFill>
              </a:defRPr>
            </a:pPr>
            <a:r>
              <a:t>  Chain-of-Thought - Classification then response</a:t>
            </a:r>
          </a:p>
          <a:p>
            <a:pPr>
              <a:spcBef>
                <a:spcPts val="600"/>
              </a:spcBef>
              <a:defRPr sz="1000">
                <a:solidFill>
                  <a:srgbClr val="CCCCCC"/>
                </a:solidFill>
              </a:defRPr>
            </a:pPr>
            <a:r>
              <a:t>  Medical Disclaimers - Auto-appended to responses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0" y="1188720"/>
            <a:ext cx="3931920" cy="4572000"/>
          </a:xfrm>
          <a:prstGeom prst="round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A500"/>
                </a:solidFill>
              </a:defRPr>
            </a:pPr>
            <a:r>
              <a:t>Additional Components</a:t>
            </a:r>
          </a:p>
          <a:p>
            <a:pPr>
              <a:spcBef>
                <a:spcPts val="600"/>
              </a:spcBef>
              <a:defRPr sz="1100" b="1">
                <a:solidFill>
                  <a:srgbClr val="FFDD77"/>
                </a:solidFill>
              </a:defRPr>
            </a:pPr>
            <a:r>
              <a:t>  RAG Pipeline</a:t>
            </a:r>
          </a:p>
          <a:p>
            <a:pPr>
              <a:defRPr sz="900">
                <a:solidFill>
                  <a:srgbClr val="BBBBBB"/>
                </a:solidFill>
              </a:defRPr>
            </a:pPr>
            <a:r>
              <a:t>    FAISS + HuggingFace for context retrieval</a:t>
            </a:r>
          </a:p>
          <a:p>
            <a:pPr>
              <a:spcBef>
                <a:spcPts val="600"/>
              </a:spcBef>
              <a:defRPr sz="1100" b="1">
                <a:solidFill>
                  <a:srgbClr val="FFDD77"/>
                </a:solidFill>
              </a:defRPr>
            </a:pPr>
            <a:r>
              <a:t>  Vector Database</a:t>
            </a:r>
          </a:p>
          <a:p>
            <a:pPr>
              <a:defRPr sz="900">
                <a:solidFill>
                  <a:srgbClr val="BBBBBB"/>
                </a:solidFill>
              </a:defRPr>
            </a:pPr>
            <a:r>
              <a:t>    FAISS with 20 curated medical docs</a:t>
            </a:r>
          </a:p>
          <a:p>
            <a:pPr>
              <a:spcBef>
                <a:spcPts val="600"/>
              </a:spcBef>
              <a:defRPr sz="1100" b="1">
                <a:solidFill>
                  <a:srgbClr val="FFDD77"/>
                </a:solidFill>
              </a:defRPr>
            </a:pPr>
            <a:r>
              <a:t>  Conversation Memory</a:t>
            </a:r>
          </a:p>
          <a:p>
            <a:pPr>
              <a:defRPr sz="900">
                <a:solidFill>
                  <a:srgbClr val="BBBBBB"/>
                </a:solidFill>
              </a:defRPr>
            </a:pPr>
            <a:r>
              <a:t>    Sliding window buffer + history</a:t>
            </a:r>
          </a:p>
          <a:p>
            <a:pPr>
              <a:spcBef>
                <a:spcPts val="600"/>
              </a:spcBef>
              <a:defRPr sz="1100" b="1">
                <a:solidFill>
                  <a:srgbClr val="FFDD77"/>
                </a:solidFill>
              </a:defRPr>
            </a:pPr>
            <a:r>
              <a:t>  Emergency Detection</a:t>
            </a:r>
          </a:p>
          <a:p>
            <a:pPr>
              <a:defRPr sz="900">
                <a:solidFill>
                  <a:srgbClr val="BBBBBB"/>
                </a:solidFill>
              </a:defRPr>
            </a:pPr>
            <a:r>
              <a:t>    Keyword-based safety response</a:t>
            </a:r>
          </a:p>
          <a:p>
            <a:pPr>
              <a:spcBef>
                <a:spcPts val="600"/>
              </a:spcBef>
              <a:defRPr sz="1100" b="1">
                <a:solidFill>
                  <a:srgbClr val="FFDD77"/>
                </a:solidFill>
              </a:defRPr>
            </a:pPr>
            <a:r>
              <a:t>  Scope Enforcement</a:t>
            </a:r>
          </a:p>
          <a:p>
            <a:pPr>
              <a:defRPr sz="900">
                <a:solidFill>
                  <a:srgbClr val="BBBBBB"/>
                </a:solidFill>
              </a:defRPr>
            </a:pPr>
            <a:r>
              <a:t>    Redirects non-health queries</a:t>
            </a:r>
          </a:p>
          <a:p>
            <a:pPr>
              <a:spcBef>
                <a:spcPts val="600"/>
              </a:spcBef>
              <a:defRPr sz="1100" b="1">
                <a:solidFill>
                  <a:srgbClr val="FFDD77"/>
                </a:solidFill>
              </a:defRPr>
            </a:pPr>
            <a:r>
              <a:t>  Source Citations</a:t>
            </a:r>
          </a:p>
          <a:p>
            <a:pPr>
              <a:defRPr sz="900">
                <a:solidFill>
                  <a:srgbClr val="BBBBBB"/>
                </a:solidFill>
              </a:defRPr>
            </a:pPr>
            <a:r>
              <a:t>    References to WHO, CDC, etc.</a:t>
            </a:r>
          </a:p>
          <a:p>
            <a:pPr>
              <a:spcBef>
                <a:spcPts val="600"/>
              </a:spcBef>
              <a:defRPr sz="1100" b="1">
                <a:solidFill>
                  <a:srgbClr val="FFDD77"/>
                </a:solidFill>
              </a:defRPr>
            </a:pPr>
            <a:r>
              <a:t>  Query Classification</a:t>
            </a:r>
          </a:p>
          <a:p>
            <a:pPr>
              <a:defRPr sz="900">
                <a:solidFill>
                  <a:srgbClr val="BBBBBB"/>
                </a:solidFill>
              </a:defRPr>
            </a:pPr>
            <a:r>
              <a:t>    Routes queries to handlers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Challenges, Solutions and Workflow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8229600" cy="822960"/>
          </a:xfrm>
          <a:prstGeom prst="round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6666"/>
                </a:solidFill>
              </a:defRPr>
            </a:pPr>
            <a:r>
              <a:t>Challenge: LLM Hallucination</a:t>
            </a:r>
          </a:p>
          <a:p>
            <a:pPr>
              <a:spcBef>
                <a:spcPts val="400"/>
              </a:spcBef>
              <a:defRPr sz="1000">
                <a:solidFill>
                  <a:srgbClr val="77DD77"/>
                </a:solidFill>
              </a:defRPr>
            </a:pPr>
            <a:r>
              <a:t>Solution: RAG grounds responses in verified medical knowledge base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103120"/>
            <a:ext cx="8229600" cy="822960"/>
          </a:xfrm>
          <a:prstGeom prst="round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6666"/>
                </a:solidFill>
              </a:defRPr>
            </a:pPr>
            <a:r>
              <a:t>Challenge: Medical Safety</a:t>
            </a:r>
          </a:p>
          <a:p>
            <a:pPr>
              <a:spcBef>
                <a:spcPts val="400"/>
              </a:spcBef>
              <a:defRPr sz="1000">
                <a:solidFill>
                  <a:srgbClr val="77DD77"/>
                </a:solidFill>
              </a:defRPr>
            </a:pPr>
            <a:r>
              <a:t>Solution: Multi-layer guardrails: emergency detection, diagnosis prevention, disclaimers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017520"/>
            <a:ext cx="8229600" cy="822960"/>
          </a:xfrm>
          <a:prstGeom prst="round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6666"/>
                </a:solidFill>
              </a:defRPr>
            </a:pPr>
            <a:r>
              <a:t>Challenge: Context in Follow-ups</a:t>
            </a:r>
          </a:p>
          <a:p>
            <a:pPr>
              <a:spcBef>
                <a:spcPts val="400"/>
              </a:spcBef>
              <a:defRPr sz="1000">
                <a:solidFill>
                  <a:srgbClr val="77DD77"/>
                </a:solidFill>
              </a:defRPr>
            </a:pPr>
            <a:r>
              <a:t>Solution: ConversationBufferWindowMemory maintains last 10 exchanges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931920"/>
            <a:ext cx="8229600" cy="822960"/>
          </a:xfrm>
          <a:prstGeom prst="round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6666"/>
                </a:solidFill>
              </a:defRPr>
            </a:pPr>
            <a:r>
              <a:t>Challenge: Response Relevance</a:t>
            </a:r>
          </a:p>
          <a:p>
            <a:pPr>
              <a:spcBef>
                <a:spcPts val="400"/>
              </a:spcBef>
              <a:defRPr sz="1000">
                <a:solidFill>
                  <a:srgbClr val="77DD77"/>
                </a:solidFill>
              </a:defRPr>
            </a:pPr>
            <a:r>
              <a:t>Solution: Query classification routes to appropriate handlers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846320"/>
            <a:ext cx="8229600" cy="822960"/>
          </a:xfrm>
          <a:prstGeom prst="round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6666"/>
                </a:solidFill>
              </a:defRPr>
            </a:pPr>
            <a:r>
              <a:t>Challenge: Source Attribution</a:t>
            </a:r>
          </a:p>
          <a:p>
            <a:pPr>
              <a:spcBef>
                <a:spcPts val="400"/>
              </a:spcBef>
              <a:defRPr sz="1000">
                <a:solidFill>
                  <a:srgbClr val="77DD77"/>
                </a:solidFill>
              </a:defRPr>
            </a:pPr>
            <a:r>
              <a:t>Solution: Knowledge base includes source metadata for citations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48CAE4"/>
                </a:solidFill>
              </a:defRPr>
            </a:pPr>
            <a:r>
              <a:t>Workflow: User Input -&gt; Classification -&gt; RAG + LLM -&gt; Safety Validation -&gt; Response with Citations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